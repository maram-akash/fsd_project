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302209"/>
            <a:ext cx="11092815" cy="809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194" y="1976450"/>
            <a:ext cx="15026005" cy="716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1719"/>
            <a:ext cx="4446493" cy="12158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244344" y="1632966"/>
            <a:ext cx="1415288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65" b="1">
                <a:latin typeface="Cambria"/>
                <a:cs typeface="Cambria"/>
              </a:rPr>
              <a:t>Vel</a:t>
            </a:r>
            <a:r>
              <a:rPr dirty="0" sz="3200" spc="-110" b="1">
                <a:latin typeface="Cambria"/>
                <a:cs typeface="Cambria"/>
              </a:rPr>
              <a:t> </a:t>
            </a:r>
            <a:r>
              <a:rPr dirty="0" sz="3200" spc="-60" b="1">
                <a:latin typeface="Cambria"/>
                <a:cs typeface="Cambria"/>
              </a:rPr>
              <a:t>Tech</a:t>
            </a:r>
            <a:r>
              <a:rPr dirty="0" sz="3200" spc="-114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Rangarajan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spc="-100" b="1">
                <a:latin typeface="Cambria"/>
                <a:cs typeface="Cambria"/>
              </a:rPr>
              <a:t>Dr.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Sagunthala</a:t>
            </a:r>
            <a:r>
              <a:rPr dirty="0" sz="3200" spc="-5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R&amp;D</a:t>
            </a:r>
            <a:r>
              <a:rPr dirty="0" sz="3200" spc="-12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Institute</a:t>
            </a:r>
            <a:r>
              <a:rPr dirty="0" sz="3200" spc="-6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11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1656" y="2117852"/>
            <a:ext cx="43211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3600" spc="-7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3600" spc="-8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30323" y="2515702"/>
            <a:ext cx="14088744" cy="41414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ctr" marR="97155">
              <a:lnSpc>
                <a:spcPct val="100000"/>
              </a:lnSpc>
              <a:spcBef>
                <a:spcPts val="1300"/>
              </a:spcBef>
            </a:pPr>
            <a:r>
              <a:rPr dirty="0" sz="3200" spc="-10" b="1">
                <a:latin typeface="Cambria"/>
                <a:cs typeface="Cambria"/>
              </a:rPr>
              <a:t>Department</a:t>
            </a:r>
            <a:r>
              <a:rPr dirty="0" sz="3200" spc="-7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9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Computer</a:t>
            </a:r>
            <a:r>
              <a:rPr dirty="0" sz="3200" spc="-2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6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 marR="96520">
              <a:lnSpc>
                <a:spcPct val="100000"/>
              </a:lnSpc>
              <a:spcBef>
                <a:spcPts val="1075"/>
              </a:spcBef>
            </a:pPr>
            <a:r>
              <a:rPr dirty="0" sz="2800" spc="225" b="1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dirty="0" sz="2800" spc="34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65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2800" spc="32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60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2800" spc="29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305" b="1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dirty="0" sz="2800" spc="32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04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2800" spc="29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54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dirty="0" sz="2800" spc="29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140" b="1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algn="ctr" marL="1892300" marR="1983105">
              <a:lnSpc>
                <a:spcPts val="6240"/>
              </a:lnSpc>
              <a:spcBef>
                <a:spcPts val="190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dirty="0" sz="3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dirty="0" sz="36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dirty="0" sz="36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dirty="0" sz="3600" spc="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20" b="1">
                <a:solidFill>
                  <a:srgbClr val="C00000"/>
                </a:solidFill>
                <a:latin typeface="Arial"/>
                <a:cs typeface="Arial"/>
              </a:rPr>
              <a:t>23-03-2026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3600" spc="-10" b="1">
                <a:solidFill>
                  <a:srgbClr val="0033CC"/>
                </a:solidFill>
                <a:latin typeface="Calibri"/>
                <a:cs typeface="Calibri"/>
              </a:rPr>
              <a:t>Full-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Stack</a:t>
            </a:r>
            <a:r>
              <a:rPr dirty="0" sz="3600" spc="-15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Skill</a:t>
            </a:r>
            <a:r>
              <a:rPr dirty="0" sz="3600" spc="-12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Learning</a:t>
            </a:r>
            <a:r>
              <a:rPr dirty="0" sz="3600" spc="-114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Academy</a:t>
            </a:r>
            <a:r>
              <a:rPr dirty="0" sz="3600" spc="-11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33CC"/>
                </a:solidFill>
                <a:latin typeface="Calibri"/>
                <a:cs typeface="Calibri"/>
              </a:rPr>
              <a:t>Marketplace</a:t>
            </a:r>
            <a:r>
              <a:rPr dirty="0" sz="3600" spc="-14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dirty="0" sz="3600" spc="-10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33CC"/>
                </a:solidFill>
                <a:latin typeface="Calibri"/>
                <a:cs typeface="Calibri"/>
              </a:rPr>
              <a:t>Secure</a:t>
            </a:r>
            <a:r>
              <a:rPr dirty="0" sz="3600" spc="-12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33CC"/>
                </a:solidFill>
                <a:latin typeface="Calibri"/>
                <a:cs typeface="Calibri"/>
              </a:rPr>
              <a:t>Authentication</a:t>
            </a:r>
            <a:endParaRPr sz="3600">
              <a:latin typeface="Calibri"/>
              <a:cs typeface="Calibri"/>
            </a:endParaRPr>
          </a:p>
          <a:p>
            <a:pPr algn="ctr" marR="314325">
              <a:lnSpc>
                <a:spcPct val="100000"/>
              </a:lnSpc>
              <a:spcBef>
                <a:spcPts val="2070"/>
              </a:spcBef>
            </a:pPr>
            <a:r>
              <a:rPr dirty="0" sz="2400" b="1">
                <a:latin typeface="Times New Roman"/>
                <a:cs typeface="Times New Roman"/>
              </a:rPr>
              <a:t>SDG: SDG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–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SDG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4-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Quality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Education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2718" y="7740680"/>
            <a:ext cx="8458835" cy="139827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000" b="1">
                <a:latin typeface="Cambria"/>
                <a:cs typeface="Cambria"/>
              </a:rPr>
              <a:t>Presented</a:t>
            </a:r>
            <a:r>
              <a:rPr dirty="0" sz="3000" spc="-160" b="1">
                <a:latin typeface="Cambria"/>
                <a:cs typeface="Cambria"/>
              </a:rPr>
              <a:t> </a:t>
            </a:r>
            <a:r>
              <a:rPr dirty="0" sz="3000" spc="-25" b="1">
                <a:latin typeface="Cambria"/>
                <a:cs typeface="Cambria"/>
              </a:rPr>
              <a:t>By: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>
                <a:latin typeface="Cambria"/>
                <a:cs typeface="Cambria"/>
              </a:rPr>
              <a:t>MARAM</a:t>
            </a:r>
            <a:r>
              <a:rPr dirty="0" sz="3000" spc="-8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AKASH</a:t>
            </a:r>
            <a:r>
              <a:rPr dirty="0" sz="3000" spc="-8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9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VTU24837</a:t>
            </a:r>
            <a:r>
              <a:rPr dirty="0" sz="3000" spc="-4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95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Reg.No:23UECS0800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25631" y="7763936"/>
            <a:ext cx="6485890" cy="1431290"/>
          </a:xfrm>
          <a:prstGeom prst="rect">
            <a:avLst/>
          </a:prstGeom>
        </p:spPr>
        <p:txBody>
          <a:bodyPr wrap="square" lIns="0" tIns="236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65"/>
              </a:spcBef>
            </a:pPr>
            <a:r>
              <a:rPr dirty="0" sz="3000" b="1">
                <a:latin typeface="Cambria"/>
                <a:cs typeface="Cambria"/>
              </a:rPr>
              <a:t>Courses</a:t>
            </a:r>
            <a:r>
              <a:rPr dirty="0" sz="3000" spc="-65" b="1">
                <a:latin typeface="Cambria"/>
                <a:cs typeface="Cambria"/>
              </a:rPr>
              <a:t> </a:t>
            </a:r>
            <a:r>
              <a:rPr dirty="0" sz="3000" b="1">
                <a:latin typeface="Cambria"/>
                <a:cs typeface="Cambria"/>
              </a:rPr>
              <a:t>Handling</a:t>
            </a:r>
            <a:r>
              <a:rPr dirty="0" sz="3000" spc="-50" b="1">
                <a:latin typeface="Cambria"/>
                <a:cs typeface="Cambria"/>
              </a:rPr>
              <a:t> </a:t>
            </a:r>
            <a:r>
              <a:rPr dirty="0" sz="3000" spc="-10" b="1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  <a:tabLst>
                <a:tab pos="3490595" algn="l"/>
              </a:tabLst>
            </a:pPr>
            <a:r>
              <a:rPr dirty="0" sz="3200" spc="-85">
                <a:latin typeface="Calibri"/>
                <a:cs typeface="Calibri"/>
              </a:rPr>
              <a:t>Dr.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Hafizur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Rahman</a:t>
            </a:r>
            <a:r>
              <a:rPr dirty="0" sz="3000" spc="-10">
                <a:latin typeface="Cambria"/>
                <a:cs typeface="Cambria"/>
              </a:rPr>
              <a:t>-</a:t>
            </a:r>
            <a:r>
              <a:rPr dirty="0" sz="3000">
                <a:latin typeface="Cambria"/>
                <a:cs typeface="Cambria"/>
              </a:rPr>
              <a:t>	B.E.,</a:t>
            </a:r>
            <a:r>
              <a:rPr dirty="0" sz="3000" spc="-90">
                <a:latin typeface="Cambria"/>
                <a:cs typeface="Cambria"/>
              </a:rPr>
              <a:t> </a:t>
            </a:r>
            <a:r>
              <a:rPr dirty="0" sz="3000" spc="-25">
                <a:latin typeface="Cambria"/>
                <a:cs typeface="Cambria"/>
              </a:rPr>
              <a:t>M.Tech.,</a:t>
            </a:r>
            <a:r>
              <a:rPr dirty="0" sz="3000" spc="-90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Ph.D.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600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27861" y="2181605"/>
            <a:ext cx="14795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-545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16583" y="4558664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22680" y="3218434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2680" y="522744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2680" y="3887851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25727" y="6567372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19632" y="5896736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19632" y="7235138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19632" y="7902905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2258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85470" marR="241935" indent="-5734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/>
              <a:t>This</a:t>
            </a:r>
            <a:r>
              <a:rPr dirty="0" spc="-20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 spc="-20"/>
              <a:t>web-</a:t>
            </a:r>
            <a:r>
              <a:rPr dirty="0"/>
              <a:t>based platform</a:t>
            </a:r>
            <a:r>
              <a:rPr dirty="0" spc="-30"/>
              <a:t> </a:t>
            </a:r>
            <a:r>
              <a:rPr dirty="0"/>
              <a:t>designed to provide</a:t>
            </a:r>
            <a:r>
              <a:rPr dirty="0" spc="-5"/>
              <a:t> </a:t>
            </a:r>
            <a:r>
              <a:rPr dirty="0"/>
              <a:t>online skill </a:t>
            </a:r>
            <a:r>
              <a:rPr dirty="0" spc="-10"/>
              <a:t>learning </a:t>
            </a:r>
            <a:r>
              <a:rPr dirty="0"/>
              <a:t>opportunities</a:t>
            </a:r>
            <a:r>
              <a:rPr dirty="0" spc="-95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10"/>
              <a:t>users.</a:t>
            </a:r>
          </a:p>
          <a:p>
            <a:pPr marL="585470" marR="17399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/>
              <a:t>It</a:t>
            </a:r>
            <a:r>
              <a:rPr dirty="0" spc="-5"/>
              <a:t> </a:t>
            </a:r>
            <a:r>
              <a:rPr dirty="0"/>
              <a:t>allows</a:t>
            </a:r>
            <a:r>
              <a:rPr dirty="0" spc="-25"/>
              <a:t> </a:t>
            </a:r>
            <a:r>
              <a:rPr dirty="0"/>
              <a:t>users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register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login</a:t>
            </a:r>
            <a:r>
              <a:rPr dirty="0" spc="-10"/>
              <a:t> </a:t>
            </a:r>
            <a:r>
              <a:rPr dirty="0"/>
              <a:t>securely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5"/>
              <a:t> </a:t>
            </a:r>
            <a:r>
              <a:rPr dirty="0"/>
              <a:t>authentication</a:t>
            </a:r>
            <a:r>
              <a:rPr dirty="0" spc="-85"/>
              <a:t> </a:t>
            </a:r>
            <a:r>
              <a:rPr dirty="0" spc="-10"/>
              <a:t>mechanisms </a:t>
            </a:r>
            <a:r>
              <a:rPr dirty="0"/>
              <a:t>like</a:t>
            </a:r>
            <a:r>
              <a:rPr dirty="0" spc="-25"/>
              <a:t> </a:t>
            </a:r>
            <a:r>
              <a:rPr dirty="0"/>
              <a:t>password</a:t>
            </a:r>
            <a:r>
              <a:rPr dirty="0" spc="-20"/>
              <a:t> </a:t>
            </a:r>
            <a:r>
              <a:rPr dirty="0"/>
              <a:t>hashing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session</a:t>
            </a:r>
            <a:r>
              <a:rPr dirty="0" spc="-15"/>
              <a:t> </a:t>
            </a:r>
            <a:r>
              <a:rPr dirty="0" spc="-10"/>
              <a:t>management.</a:t>
            </a:r>
          </a:p>
          <a:p>
            <a:pPr marL="585470" marR="454659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system</a:t>
            </a:r>
            <a:r>
              <a:rPr dirty="0" spc="-55"/>
              <a:t> </a:t>
            </a:r>
            <a:r>
              <a:rPr dirty="0"/>
              <a:t>supports</a:t>
            </a:r>
            <a:r>
              <a:rPr dirty="0" spc="5"/>
              <a:t> </a:t>
            </a:r>
            <a:r>
              <a:rPr dirty="0"/>
              <a:t>different</a:t>
            </a:r>
            <a:r>
              <a:rPr dirty="0" spc="-30"/>
              <a:t> </a:t>
            </a:r>
            <a:r>
              <a:rPr dirty="0"/>
              <a:t>roles</a:t>
            </a:r>
            <a:r>
              <a:rPr dirty="0" spc="-25"/>
              <a:t> </a:t>
            </a:r>
            <a:r>
              <a:rPr dirty="0"/>
              <a:t>such</a:t>
            </a:r>
            <a:r>
              <a:rPr dirty="0" spc="5"/>
              <a:t> </a:t>
            </a:r>
            <a:r>
              <a:rPr dirty="0"/>
              <a:t>as</a:t>
            </a:r>
            <a:r>
              <a:rPr dirty="0" spc="-25"/>
              <a:t> </a:t>
            </a:r>
            <a:r>
              <a:rPr dirty="0"/>
              <a:t>Student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Instructor</a:t>
            </a:r>
            <a:r>
              <a:rPr dirty="0" spc="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 spc="-20"/>
              <a:t>role- </a:t>
            </a:r>
            <a:r>
              <a:rPr dirty="0"/>
              <a:t>based</a:t>
            </a:r>
            <a:r>
              <a:rPr dirty="0" spc="-60"/>
              <a:t> </a:t>
            </a:r>
            <a:r>
              <a:rPr dirty="0"/>
              <a:t>access</a:t>
            </a:r>
            <a:r>
              <a:rPr dirty="0" spc="-75"/>
              <a:t> </a:t>
            </a:r>
            <a:r>
              <a:rPr dirty="0" spc="-10"/>
              <a:t>control.</a:t>
            </a:r>
          </a:p>
          <a:p>
            <a:pPr marL="585470" marR="86741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/>
              <a:t>Students</a:t>
            </a:r>
            <a:r>
              <a:rPr dirty="0" spc="-15"/>
              <a:t> </a:t>
            </a:r>
            <a:r>
              <a:rPr dirty="0"/>
              <a:t>can</a:t>
            </a:r>
            <a:r>
              <a:rPr dirty="0" spc="-10"/>
              <a:t> </a:t>
            </a:r>
            <a:r>
              <a:rPr dirty="0"/>
              <a:t>browse,</a:t>
            </a:r>
            <a:r>
              <a:rPr dirty="0" spc="-5"/>
              <a:t> </a:t>
            </a:r>
            <a:r>
              <a:rPr dirty="0"/>
              <a:t>search, and</a:t>
            </a:r>
            <a:r>
              <a:rPr dirty="0" spc="-15"/>
              <a:t> </a:t>
            </a:r>
            <a:r>
              <a:rPr dirty="0"/>
              <a:t>enroll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/>
              <a:t>various</a:t>
            </a:r>
            <a:r>
              <a:rPr dirty="0" spc="-25"/>
              <a:t> </a:t>
            </a:r>
            <a:r>
              <a:rPr dirty="0"/>
              <a:t>courses</a:t>
            </a:r>
            <a:r>
              <a:rPr dirty="0" spc="-15"/>
              <a:t> </a:t>
            </a:r>
            <a:r>
              <a:rPr dirty="0"/>
              <a:t>available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spc="-25"/>
              <a:t>the </a:t>
            </a:r>
            <a:r>
              <a:rPr dirty="0" spc="-10"/>
              <a:t>marketplace.</a:t>
            </a: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/>
              <a:t>Instructors</a:t>
            </a:r>
            <a:r>
              <a:rPr dirty="0" spc="-35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/>
              <a:t>create,</a:t>
            </a:r>
            <a:r>
              <a:rPr dirty="0" spc="-60"/>
              <a:t> </a:t>
            </a:r>
            <a:r>
              <a:rPr dirty="0"/>
              <a:t>update,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manage</a:t>
            </a:r>
            <a:r>
              <a:rPr dirty="0" spc="-5"/>
              <a:t> </a:t>
            </a:r>
            <a:r>
              <a:rPr dirty="0"/>
              <a:t>courses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track</a:t>
            </a:r>
            <a:r>
              <a:rPr dirty="0" spc="-15"/>
              <a:t> </a:t>
            </a:r>
            <a:r>
              <a:rPr dirty="0"/>
              <a:t>enrolled</a:t>
            </a:r>
            <a:r>
              <a:rPr dirty="0" spc="-50"/>
              <a:t> </a:t>
            </a:r>
            <a:r>
              <a:rPr dirty="0" spc="-10"/>
              <a:t>students.</a:t>
            </a:r>
          </a:p>
          <a:p>
            <a:pPr marL="585470" marR="155829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application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developed</a:t>
            </a:r>
            <a:r>
              <a:rPr dirty="0" spc="-90"/>
              <a:t> </a:t>
            </a:r>
            <a:r>
              <a:rPr dirty="0"/>
              <a:t>using</a:t>
            </a:r>
            <a:r>
              <a:rPr dirty="0" spc="-50"/>
              <a:t> </a:t>
            </a:r>
            <a:r>
              <a:rPr dirty="0"/>
              <a:t>HTML,</a:t>
            </a:r>
            <a:r>
              <a:rPr dirty="0" spc="-45"/>
              <a:t> </a:t>
            </a:r>
            <a:r>
              <a:rPr dirty="0"/>
              <a:t>CSS,</a:t>
            </a:r>
            <a:r>
              <a:rPr dirty="0" spc="-40"/>
              <a:t> </a:t>
            </a:r>
            <a:r>
              <a:rPr dirty="0"/>
              <a:t>JavaScript,</a:t>
            </a:r>
            <a:r>
              <a:rPr dirty="0" spc="-75"/>
              <a:t> </a:t>
            </a:r>
            <a:r>
              <a:rPr dirty="0" spc="-65"/>
              <a:t>PHP,</a:t>
            </a:r>
            <a:r>
              <a:rPr dirty="0" spc="-40"/>
              <a:t> </a:t>
            </a:r>
            <a:r>
              <a:rPr dirty="0" spc="-25"/>
              <a:t>and </a:t>
            </a:r>
            <a:r>
              <a:rPr dirty="0" spc="-10"/>
              <a:t>MySQL.</a:t>
            </a:r>
          </a:p>
          <a:p>
            <a:pPr marL="585470" marR="78041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main</a:t>
            </a:r>
            <a:r>
              <a:rPr dirty="0" spc="-45"/>
              <a:t> </a:t>
            </a:r>
            <a:r>
              <a:rPr dirty="0"/>
              <a:t>goal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this</a:t>
            </a:r>
            <a:r>
              <a:rPr dirty="0" spc="-45"/>
              <a:t> </a:t>
            </a:r>
            <a:r>
              <a:rPr dirty="0"/>
              <a:t>project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provide</a:t>
            </a:r>
            <a:r>
              <a:rPr dirty="0" spc="-45"/>
              <a:t> </a:t>
            </a:r>
            <a:r>
              <a:rPr dirty="0"/>
              <a:t>an</a:t>
            </a:r>
            <a:r>
              <a:rPr dirty="0" spc="-45"/>
              <a:t> </a:t>
            </a:r>
            <a:r>
              <a:rPr dirty="0"/>
              <a:t>accessible,</a:t>
            </a:r>
            <a:r>
              <a:rPr dirty="0" spc="-95"/>
              <a:t> </a:t>
            </a:r>
            <a:r>
              <a:rPr dirty="0" spc="-40"/>
              <a:t>user-</a:t>
            </a:r>
            <a:r>
              <a:rPr dirty="0" spc="-10"/>
              <a:t>friendly,</a:t>
            </a:r>
            <a:r>
              <a:rPr dirty="0" spc="-120"/>
              <a:t> </a:t>
            </a:r>
            <a:r>
              <a:rPr dirty="0" spc="-25"/>
              <a:t>and </a:t>
            </a:r>
            <a:r>
              <a:rPr dirty="0"/>
              <a:t>secure</a:t>
            </a:r>
            <a:r>
              <a:rPr dirty="0" spc="-30"/>
              <a:t> </a:t>
            </a:r>
            <a:r>
              <a:rPr dirty="0"/>
              <a:t>online</a:t>
            </a:r>
            <a:r>
              <a:rPr dirty="0" spc="-50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91285" y="2877692"/>
            <a:ext cx="230504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05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19936" y="4539741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53464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6032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6032" y="3873753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29080" y="6537146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22984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2984" y="7204912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22984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5"/>
              <a:t> </a:t>
            </a:r>
            <a:r>
              <a:rPr dirty="0" spc="-80"/>
              <a:t>STATEMENT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83994" y="1275715"/>
            <a:ext cx="14634210" cy="8257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In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today’s</a:t>
            </a:r>
            <a:r>
              <a:rPr dirty="0" sz="3600" spc="-1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digital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era,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many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learners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face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difficulty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accessing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centralized </a:t>
            </a:r>
            <a:r>
              <a:rPr dirty="0" sz="3600">
                <a:latin typeface="Times New Roman"/>
                <a:cs typeface="Times New Roman"/>
              </a:rPr>
              <a:t>platform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that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provides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structured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 affordable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skill-</a:t>
            </a:r>
            <a:r>
              <a:rPr dirty="0" sz="3600">
                <a:latin typeface="Times New Roman"/>
                <a:cs typeface="Times New Roman"/>
              </a:rPr>
              <a:t>based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education.</a:t>
            </a:r>
            <a:endParaRPr sz="3600">
              <a:latin typeface="Times New Roman"/>
              <a:cs typeface="Times New Roman"/>
            </a:endParaRPr>
          </a:p>
          <a:p>
            <a:pPr marL="585470" marR="972819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Existing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systems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often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lack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proper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organization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of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user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roles,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making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it </a:t>
            </a:r>
            <a:r>
              <a:rPr dirty="0" sz="3600">
                <a:latin typeface="Times New Roman"/>
                <a:cs typeface="Times New Roman"/>
              </a:rPr>
              <a:t>difficult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manage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students, instructors,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administrators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efficiently.</a:t>
            </a:r>
            <a:endParaRPr sz="3600">
              <a:latin typeface="Times New Roman"/>
              <a:cs typeface="Times New Roman"/>
            </a:endParaRPr>
          </a:p>
          <a:p>
            <a:pPr marL="585470" marR="25146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Many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online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platforms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do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not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ensure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secure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authentication,</a:t>
            </a:r>
            <a:r>
              <a:rPr dirty="0" sz="3600" spc="-10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leading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20">
                <a:latin typeface="Times New Roman"/>
                <a:cs typeface="Times New Roman"/>
              </a:rPr>
              <a:t> risks </a:t>
            </a:r>
            <a:r>
              <a:rPr dirty="0" sz="3600">
                <a:latin typeface="Times New Roman"/>
                <a:cs typeface="Times New Roman"/>
              </a:rPr>
              <a:t>such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as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unauthorized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breaches.</a:t>
            </a:r>
            <a:endParaRPr sz="3600">
              <a:latin typeface="Times New Roman"/>
              <a:cs typeface="Times New Roman"/>
            </a:endParaRPr>
          </a:p>
          <a:p>
            <a:pPr marL="585470" marR="12827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There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need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system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that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allows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instructors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easily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create,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manage,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update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courses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without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technical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complexity.</a:t>
            </a:r>
            <a:endParaRPr sz="3600">
              <a:latin typeface="Times New Roman"/>
              <a:cs typeface="Times New Roman"/>
            </a:endParaRPr>
          </a:p>
          <a:p>
            <a:pPr marL="585470" marR="152527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dirty="0" sz="3600" spc="-10">
                <a:latin typeface="Times New Roman"/>
                <a:cs typeface="Times New Roman"/>
              </a:rPr>
              <a:t>Traditional</a:t>
            </a:r>
            <a:r>
              <a:rPr dirty="0" sz="3600" spc="-9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systems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lack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modular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architecture,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making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maintenance, scalability,</a:t>
            </a:r>
            <a:r>
              <a:rPr dirty="0" sz="3600" spc="-10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feature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enhancement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difficult.</a:t>
            </a:r>
            <a:endParaRPr sz="3600">
              <a:latin typeface="Times New Roman"/>
              <a:cs typeface="Times New Roman"/>
            </a:endParaRPr>
          </a:p>
          <a:p>
            <a:pPr marL="585470" marR="54038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There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also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need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proper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database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management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store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retrieve </a:t>
            </a:r>
            <a:r>
              <a:rPr dirty="0" sz="3600">
                <a:latin typeface="Times New Roman"/>
                <a:cs typeface="Times New Roman"/>
              </a:rPr>
              <a:t>user,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course,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enrollment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efficiently.</a:t>
            </a:r>
            <a:endParaRPr sz="3600">
              <a:latin typeface="Times New Roman"/>
              <a:cs typeface="Times New Roman"/>
            </a:endParaRPr>
          </a:p>
          <a:p>
            <a:pPr marL="585470" marR="51879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dirty="0" sz="3600">
                <a:latin typeface="Times New Roman"/>
                <a:cs typeface="Times New Roman"/>
              </a:rPr>
              <a:t>Therefore,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this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project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aims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develop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secure,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modular,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role-</a:t>
            </a:r>
            <a:r>
              <a:rPr dirty="0" sz="3600" spc="-20">
                <a:latin typeface="Times New Roman"/>
                <a:cs typeface="Times New Roman"/>
              </a:rPr>
              <a:t>based </a:t>
            </a:r>
            <a:r>
              <a:rPr dirty="0" sz="3600">
                <a:latin typeface="Times New Roman"/>
                <a:cs typeface="Times New Roman"/>
              </a:rPr>
              <a:t>full-stack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web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application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that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addresses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these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challenges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provides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an </a:t>
            </a:r>
            <a:r>
              <a:rPr dirty="0" sz="3600">
                <a:latin typeface="Times New Roman"/>
                <a:cs typeface="Times New Roman"/>
              </a:rPr>
              <a:t>effective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online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learning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marketplace.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8237" y="3545585"/>
            <a:ext cx="23495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35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19936" y="4539741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3464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26032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26032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29080" y="6537146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22984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22984" y="7204912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22984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4143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OBJECTIVE(S)</a:t>
            </a: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082800" y="2153793"/>
            <a:ext cx="12799695" cy="5510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 indent="-173355">
              <a:lnSpc>
                <a:spcPct val="100000"/>
              </a:lnSpc>
              <a:spcBef>
                <a:spcPts val="100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 spc="-175">
                <a:latin typeface="Arial MT"/>
                <a:cs typeface="Arial MT"/>
              </a:rPr>
              <a:t>To</a:t>
            </a:r>
            <a:r>
              <a:rPr dirty="0" sz="3600" spc="-5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design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responsive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user-</a:t>
            </a:r>
            <a:r>
              <a:rPr dirty="0" sz="3600">
                <a:latin typeface="Arial MT"/>
                <a:cs typeface="Arial MT"/>
              </a:rPr>
              <a:t>friendly</a:t>
            </a:r>
            <a:r>
              <a:rPr dirty="0" sz="3600" spc="-10">
                <a:latin typeface="Arial MT"/>
                <a:cs typeface="Arial MT"/>
              </a:rPr>
              <a:t> interface</a:t>
            </a:r>
            <a:endParaRPr sz="3600">
              <a:latin typeface="Arial MT"/>
              <a:cs typeface="Arial MT"/>
            </a:endParaRPr>
          </a:p>
          <a:p>
            <a:pPr marL="173990" indent="-17335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160">
                <a:latin typeface="Arial MT"/>
                <a:cs typeface="Arial MT"/>
              </a:rPr>
              <a:t>To</a:t>
            </a:r>
            <a:r>
              <a:rPr dirty="0" sz="3600" spc="-8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ensure</a:t>
            </a:r>
            <a:r>
              <a:rPr dirty="0" sz="3600" spc="-2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secure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data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storage</a:t>
            </a:r>
            <a:r>
              <a:rPr dirty="0" sz="3600" spc="-2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using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MySQL</a:t>
            </a:r>
            <a:r>
              <a:rPr dirty="0" sz="3600" spc="-13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database</a:t>
            </a:r>
            <a:endParaRPr sz="3600">
              <a:latin typeface="Arial MT"/>
              <a:cs typeface="Arial MT"/>
            </a:endParaRPr>
          </a:p>
          <a:p>
            <a:pPr marL="173990" indent="-173355">
              <a:lnSpc>
                <a:spcPts val="431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175">
                <a:latin typeface="Arial MT"/>
                <a:cs typeface="Arial MT"/>
              </a:rPr>
              <a:t>To</a:t>
            </a:r>
            <a:r>
              <a:rPr dirty="0" sz="3600" spc="-6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prevent</a:t>
            </a:r>
            <a:r>
              <a:rPr dirty="0" sz="3600" spc="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SQL</a:t>
            </a:r>
            <a:r>
              <a:rPr dirty="0" sz="3600" spc="-18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injection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using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prepared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statements</a:t>
            </a:r>
            <a:endParaRPr sz="3600">
              <a:latin typeface="Arial MT"/>
              <a:cs typeface="Arial MT"/>
            </a:endParaRPr>
          </a:p>
          <a:p>
            <a:pPr marL="173990" indent="-173355">
              <a:lnSpc>
                <a:spcPts val="431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160">
                <a:latin typeface="Arial MT"/>
                <a:cs typeface="Arial MT"/>
              </a:rPr>
              <a:t>To</a:t>
            </a:r>
            <a:r>
              <a:rPr dirty="0" sz="3600" spc="-7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build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5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modular</a:t>
            </a:r>
            <a:r>
              <a:rPr dirty="0" sz="3600" spc="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5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scalable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system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architect</a:t>
            </a:r>
            <a:endParaRPr sz="3600">
              <a:latin typeface="Arial MT"/>
              <a:cs typeface="Arial MT"/>
            </a:endParaRPr>
          </a:p>
          <a:p>
            <a:pPr marL="173990" indent="-173355">
              <a:lnSpc>
                <a:spcPct val="100000"/>
              </a:lnSpc>
              <a:spcBef>
                <a:spcPts val="5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 spc="-50">
                <a:latin typeface="Times New Roman"/>
                <a:cs typeface="Times New Roman"/>
              </a:rPr>
              <a:t>To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develop</a:t>
            </a:r>
            <a:r>
              <a:rPr dirty="0" sz="3600" spc="-9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full-</a:t>
            </a:r>
            <a:r>
              <a:rPr dirty="0" sz="3600">
                <a:latin typeface="Times New Roman"/>
                <a:cs typeface="Times New Roman"/>
              </a:rPr>
              <a:t>stack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web-</a:t>
            </a:r>
            <a:r>
              <a:rPr dirty="0" sz="3600">
                <a:latin typeface="Times New Roman"/>
                <a:cs typeface="Times New Roman"/>
              </a:rPr>
              <a:t>based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learning</a:t>
            </a:r>
            <a:r>
              <a:rPr dirty="0" sz="3600" spc="-9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marketplace</a:t>
            </a:r>
            <a:endParaRPr sz="3600">
              <a:latin typeface="Times New Roman"/>
              <a:cs typeface="Times New Roman"/>
            </a:endParaRPr>
          </a:p>
          <a:p>
            <a:pPr marL="173990" indent="-17335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30">
                <a:latin typeface="Times New Roman"/>
                <a:cs typeface="Times New Roman"/>
              </a:rPr>
              <a:t>To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implement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secure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authentication</a:t>
            </a:r>
            <a:r>
              <a:rPr dirty="0" sz="3600" spc="-1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using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hashing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sessions</a:t>
            </a:r>
            <a:endParaRPr sz="3600">
              <a:latin typeface="Times New Roman"/>
              <a:cs typeface="Times New Roman"/>
            </a:endParaRPr>
          </a:p>
          <a:p>
            <a:pPr marL="173990" indent="-17335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50">
                <a:latin typeface="Times New Roman"/>
                <a:cs typeface="Times New Roman"/>
              </a:rPr>
              <a:t>To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provide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role-</a:t>
            </a:r>
            <a:r>
              <a:rPr dirty="0" sz="3600">
                <a:latin typeface="Times New Roman"/>
                <a:cs typeface="Times New Roman"/>
              </a:rPr>
              <a:t>based</a:t>
            </a:r>
            <a:r>
              <a:rPr dirty="0" sz="3600" spc="-1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students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instructors</a:t>
            </a:r>
            <a:endParaRPr sz="3600">
              <a:latin typeface="Times New Roman"/>
              <a:cs typeface="Times New Roman"/>
            </a:endParaRPr>
          </a:p>
          <a:p>
            <a:pPr marL="173990" indent="-17335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30">
                <a:latin typeface="Times New Roman"/>
                <a:cs typeface="Times New Roman"/>
              </a:rPr>
              <a:t>To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enable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creation,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management,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enrollment</a:t>
            </a:r>
            <a:endParaRPr sz="3600">
              <a:latin typeface="Times New Roman"/>
              <a:cs typeface="Times New Roman"/>
            </a:endParaRPr>
          </a:p>
          <a:p>
            <a:pPr marL="173990" indent="-173355">
              <a:lnSpc>
                <a:spcPct val="100000"/>
              </a:lnSpc>
              <a:spcBef>
                <a:spcPts val="5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 spc="-50">
                <a:latin typeface="Times New Roman"/>
                <a:cs typeface="Times New Roman"/>
              </a:rPr>
              <a:t>To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design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responsive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 spc="-30">
                <a:latin typeface="Times New Roman"/>
                <a:cs typeface="Times New Roman"/>
              </a:rPr>
              <a:t>user-</a:t>
            </a:r>
            <a:r>
              <a:rPr dirty="0" sz="3600">
                <a:latin typeface="Times New Roman"/>
                <a:cs typeface="Times New Roman"/>
              </a:rPr>
              <a:t>friendly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interface</a:t>
            </a:r>
            <a:endParaRPr sz="3600">
              <a:latin typeface="Times New Roman"/>
              <a:cs typeface="Times New Roman"/>
            </a:endParaRPr>
          </a:p>
          <a:p>
            <a:pPr marL="173990" indent="-17335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30">
                <a:latin typeface="Times New Roman"/>
                <a:cs typeface="Times New Roman"/>
              </a:rPr>
              <a:t>To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ensure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storage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using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MySQL</a:t>
            </a:r>
            <a:r>
              <a:rPr dirty="0" sz="3600" spc="-2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prepared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statements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79093" y="4213352"/>
            <a:ext cx="25463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295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26032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3464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26032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26032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29080" y="6537146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22984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2984" y="7204912"/>
            <a:ext cx="165735" cy="9537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5577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200"/>
              <a:t> </a:t>
            </a:r>
            <a:r>
              <a:rPr dirty="0" spc="-10"/>
              <a:t>SYSTEM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136394" y="1765807"/>
            <a:ext cx="13538200" cy="551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 indent="-168275">
              <a:lnSpc>
                <a:spcPct val="100000"/>
              </a:lnSpc>
              <a:spcBef>
                <a:spcPts val="100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The</a:t>
            </a:r>
            <a:r>
              <a:rPr dirty="0" sz="3600" spc="-7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system</a:t>
            </a:r>
            <a:r>
              <a:rPr dirty="0" sz="3600" spc="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provides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centralized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platform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for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online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skill</a:t>
            </a:r>
            <a:r>
              <a:rPr dirty="0" sz="3600" spc="-10">
                <a:latin typeface="Arial MT"/>
                <a:cs typeface="Arial MT"/>
              </a:rPr>
              <a:t> learning</a:t>
            </a:r>
            <a:endParaRPr sz="3600">
              <a:latin typeface="Arial MT"/>
              <a:cs typeface="Arial MT"/>
            </a:endParaRPr>
          </a:p>
          <a:p>
            <a:pPr marL="12700" marR="838200" indent="-698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	</a:t>
            </a:r>
            <a:r>
              <a:rPr dirty="0" sz="3600">
                <a:latin typeface="Arial MT"/>
                <a:cs typeface="Arial MT"/>
              </a:rPr>
              <a:t>It</a:t>
            </a:r>
            <a:r>
              <a:rPr dirty="0" sz="3600" spc="-7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supports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secure</a:t>
            </a:r>
            <a:r>
              <a:rPr dirty="0" sz="3600" spc="-5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authentication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using</a:t>
            </a:r>
            <a:r>
              <a:rPr dirty="0" sz="3600" spc="-4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password</a:t>
            </a:r>
            <a:r>
              <a:rPr dirty="0" sz="3600" spc="4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hashing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and </a:t>
            </a:r>
            <a:r>
              <a:rPr dirty="0" sz="3600" spc="-10">
                <a:latin typeface="Arial MT"/>
                <a:cs typeface="Arial MT"/>
              </a:rPr>
              <a:t>sessions</a:t>
            </a:r>
            <a:endParaRPr sz="3600">
              <a:latin typeface="Arial MT"/>
              <a:cs typeface="Arial MT"/>
            </a:endParaRPr>
          </a:p>
          <a:p>
            <a:pPr marL="12700" marR="380365" indent="-698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 spc="-20">
                <a:latin typeface="Arial MT"/>
                <a:cs typeface="Arial MT"/>
              </a:rPr>
              <a:t>	</a:t>
            </a:r>
            <a:r>
              <a:rPr dirty="0" sz="3600" spc="-20">
                <a:latin typeface="Arial MT"/>
                <a:cs typeface="Arial MT"/>
              </a:rPr>
              <a:t>Role-</a:t>
            </a:r>
            <a:r>
              <a:rPr dirty="0" sz="3600">
                <a:latin typeface="Arial MT"/>
                <a:cs typeface="Arial MT"/>
              </a:rPr>
              <a:t>based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access is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implemented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for</a:t>
            </a:r>
            <a:r>
              <a:rPr dirty="0" sz="3600" spc="-5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students,</a:t>
            </a:r>
            <a:r>
              <a:rPr dirty="0" sz="3600" spc="-2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instructors,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and </a:t>
            </a:r>
            <a:r>
              <a:rPr dirty="0" sz="3600" spc="-10">
                <a:latin typeface="Arial MT"/>
                <a:cs typeface="Arial MT"/>
              </a:rPr>
              <a:t>admin</a:t>
            </a:r>
            <a:endParaRPr sz="3600">
              <a:latin typeface="Arial MT"/>
              <a:cs typeface="Arial MT"/>
            </a:endParaRPr>
          </a:p>
          <a:p>
            <a:pPr marL="173990" indent="-168275">
              <a:lnSpc>
                <a:spcPct val="100000"/>
              </a:lnSpc>
              <a:spcBef>
                <a:spcPts val="5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Users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can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easily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browse,</a:t>
            </a:r>
            <a:r>
              <a:rPr dirty="0" sz="3600" spc="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search,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4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enroll in</a:t>
            </a:r>
            <a:r>
              <a:rPr dirty="0" sz="3600" spc="-6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courses</a:t>
            </a:r>
            <a:endParaRPr sz="3600">
              <a:latin typeface="Arial MT"/>
              <a:cs typeface="Arial MT"/>
            </a:endParaRPr>
          </a:p>
          <a:p>
            <a:pPr marL="173990" indent="-16827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Instructors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can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create,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update,</a:t>
            </a:r>
            <a:r>
              <a:rPr dirty="0" sz="3600" spc="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manage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course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content</a:t>
            </a:r>
            <a:endParaRPr sz="3600">
              <a:latin typeface="Arial MT"/>
              <a:cs typeface="Arial MT"/>
            </a:endParaRPr>
          </a:p>
          <a:p>
            <a:pPr marL="12700" marR="276860" indent="-6985">
              <a:lnSpc>
                <a:spcPct val="100000"/>
              </a:lnSpc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	</a:t>
            </a:r>
            <a:r>
              <a:rPr dirty="0" sz="3600">
                <a:latin typeface="Arial MT"/>
                <a:cs typeface="Arial MT"/>
              </a:rPr>
              <a:t>The</a:t>
            </a:r>
            <a:r>
              <a:rPr dirty="0" sz="3600" spc="-6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system</a:t>
            </a:r>
            <a:r>
              <a:rPr dirty="0" sz="3600" spc="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uses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modular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architecture</a:t>
            </a:r>
            <a:r>
              <a:rPr dirty="0" sz="3600" spc="-2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for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better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scalability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and </a:t>
            </a:r>
            <a:r>
              <a:rPr dirty="0" sz="3600" spc="-10">
                <a:latin typeface="Arial MT"/>
                <a:cs typeface="Arial MT"/>
              </a:rPr>
              <a:t>maintenance</a:t>
            </a:r>
            <a:endParaRPr sz="3600">
              <a:latin typeface="Arial MT"/>
              <a:cs typeface="Arial MT"/>
            </a:endParaRPr>
          </a:p>
          <a:p>
            <a:pPr marL="173990" indent="-168275">
              <a:lnSpc>
                <a:spcPct val="100000"/>
              </a:lnSpc>
              <a:spcBef>
                <a:spcPts val="5"/>
              </a:spcBef>
              <a:buSzPct val="97222"/>
              <a:buChar char="•"/>
              <a:tabLst>
                <a:tab pos="173990" algn="l"/>
              </a:tabLst>
            </a:pPr>
            <a:r>
              <a:rPr dirty="0" sz="3600">
                <a:latin typeface="Arial MT"/>
                <a:cs typeface="Arial MT"/>
              </a:rPr>
              <a:t>Data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is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securely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stored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managed</a:t>
            </a:r>
            <a:r>
              <a:rPr dirty="0" sz="3600" spc="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using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MySQL</a:t>
            </a:r>
            <a:r>
              <a:rPr dirty="0" sz="3600" spc="-12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database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599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8237" y="4886070"/>
            <a:ext cx="23495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35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19936" y="2097480"/>
            <a:ext cx="170815" cy="2287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dirty="0" sz="1700" spc="-36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22984" y="5876289"/>
            <a:ext cx="165735" cy="2277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200"/>
              <a:t> </a:t>
            </a:r>
            <a:r>
              <a:rPr dirty="0" spc="-10"/>
              <a:t>SYSTEM</a:t>
            </a:r>
            <a:r>
              <a:rPr dirty="0" spc="-290"/>
              <a:t> </a:t>
            </a:r>
            <a:r>
              <a:rPr dirty="0" spc="-10"/>
              <a:t>ARCHITECTURE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1254755"/>
            <a:ext cx="7268207" cy="7328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8659" y="5549010"/>
            <a:ext cx="246379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225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7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4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46149" y="2093213"/>
            <a:ext cx="170815" cy="295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49197" y="6537146"/>
            <a:ext cx="165735" cy="1621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537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WORKFLOW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879717"/>
            <a:ext cx="13487400" cy="6843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17498" y="6207074"/>
            <a:ext cx="229235" cy="4356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00" spc="65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2245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2245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49197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2245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49197" y="7204912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49197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dirty="0" spc="-70"/>
              <a:t> </a:t>
            </a:r>
            <a:r>
              <a:rPr dirty="0" spc="-20"/>
              <a:t>USED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670175" y="1294587"/>
            <a:ext cx="6423660" cy="801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 b="1">
                <a:latin typeface="Times New Roman"/>
                <a:cs typeface="Times New Roman"/>
              </a:rPr>
              <a:t>Frontend:</a:t>
            </a:r>
            <a:endParaRPr sz="3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 spc="-10">
                <a:latin typeface="Times New Roman"/>
                <a:cs typeface="Times New Roman"/>
              </a:rPr>
              <a:t>HTML5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ts val="3354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 spc="-20">
                <a:latin typeface="Times New Roman"/>
                <a:cs typeface="Times New Roman"/>
              </a:rPr>
              <a:t>CSS3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835"/>
              </a:lnSpc>
            </a:pPr>
            <a:r>
              <a:rPr dirty="0" sz="3200" spc="-10" b="1">
                <a:latin typeface="Times New Roman"/>
                <a:cs typeface="Times New Roman"/>
              </a:rPr>
              <a:t>Backend:</a:t>
            </a:r>
            <a:endParaRPr sz="3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>
                <a:latin typeface="Times New Roman"/>
                <a:cs typeface="Times New Roman"/>
              </a:rPr>
              <a:t>PHP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(Core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PHP)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>
                <a:latin typeface="Times New Roman"/>
                <a:cs typeface="Times New Roman"/>
              </a:rPr>
              <a:t>Session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ts val="335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>
                <a:latin typeface="Times New Roman"/>
                <a:cs typeface="Times New Roman"/>
              </a:rPr>
              <a:t>MySQL(Database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Connectivity)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829"/>
              </a:lnSpc>
            </a:pPr>
            <a:r>
              <a:rPr dirty="0" sz="3200" spc="-10" b="1">
                <a:latin typeface="Times New Roman"/>
                <a:cs typeface="Times New Roman"/>
              </a:rPr>
              <a:t>Database:</a:t>
            </a:r>
            <a:endParaRPr sz="3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 spc="-10">
                <a:latin typeface="Times New Roman"/>
                <a:cs typeface="Times New Roman"/>
              </a:rPr>
              <a:t>MySQL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ts val="3354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 spc="-10">
                <a:latin typeface="Times New Roman"/>
                <a:cs typeface="Times New Roman"/>
              </a:rPr>
              <a:t>phpMyAdmin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835"/>
              </a:lnSpc>
            </a:pPr>
            <a:r>
              <a:rPr dirty="0" sz="3200" spc="-10" b="1">
                <a:latin typeface="Times New Roman"/>
                <a:cs typeface="Times New Roman"/>
              </a:rPr>
              <a:t>Tools:</a:t>
            </a:r>
            <a:endParaRPr sz="3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>
                <a:latin typeface="Times New Roman"/>
                <a:cs typeface="Times New Roman"/>
              </a:rPr>
              <a:t>XAMPP</a:t>
            </a:r>
            <a:r>
              <a:rPr dirty="0" sz="2800" spc="-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(Apache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MySQL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Server)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 spc="-10">
                <a:latin typeface="Times New Roman"/>
                <a:cs typeface="Times New Roman"/>
              </a:rPr>
              <a:t>Notepad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ts val="335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 spc="-40">
                <a:latin typeface="Times New Roman"/>
                <a:cs typeface="Times New Roman"/>
              </a:rPr>
              <a:t>Web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Browser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(Chrome)</a:t>
            </a:r>
            <a:endParaRPr sz="2800">
              <a:latin typeface="Times New Roman"/>
              <a:cs typeface="Times New Roman"/>
            </a:endParaRPr>
          </a:p>
          <a:p>
            <a:pPr marL="113030">
              <a:lnSpc>
                <a:spcPts val="3829"/>
              </a:lnSpc>
            </a:pPr>
            <a:r>
              <a:rPr dirty="0" sz="3200" b="1">
                <a:latin typeface="Times New Roman"/>
                <a:cs typeface="Times New Roman"/>
              </a:rPr>
              <a:t>Hardware</a:t>
            </a:r>
            <a:r>
              <a:rPr dirty="0" sz="3200" spc="-10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/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Software</a:t>
            </a:r>
            <a:r>
              <a:rPr dirty="0" sz="3200" spc="-13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Requirements:</a:t>
            </a:r>
            <a:endParaRPr sz="3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800" b="1">
                <a:latin typeface="Times New Roman"/>
                <a:cs typeface="Times New Roman"/>
              </a:rPr>
              <a:t>System: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Windows</a:t>
            </a:r>
            <a:r>
              <a:rPr dirty="0" sz="2800" spc="-12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10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 b="1">
                <a:latin typeface="Times New Roman"/>
                <a:cs typeface="Times New Roman"/>
              </a:rPr>
              <a:t>RAM: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Minimum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4GB</a:t>
            </a:r>
            <a:endParaRPr sz="2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b="1">
                <a:latin typeface="Times New Roman"/>
                <a:cs typeface="Times New Roman"/>
              </a:rPr>
              <a:t>oftware: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XAMPP</a:t>
            </a:r>
            <a:r>
              <a:rPr dirty="0" sz="2800" spc="-1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Server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11707" y="6884669"/>
            <a:ext cx="24066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8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2245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49197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2245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55293" y="609828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49197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52245" y="1428115"/>
            <a:ext cx="13962380" cy="824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738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Module</a:t>
            </a:r>
            <a:r>
              <a:rPr dirty="0" sz="3600" spc="-10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1:</a:t>
            </a:r>
            <a:r>
              <a:rPr dirty="0" sz="3600" spc="-45" b="1">
                <a:latin typeface="Times New Roman"/>
                <a:cs typeface="Times New Roman"/>
              </a:rPr>
              <a:t> </a:t>
            </a:r>
            <a:r>
              <a:rPr dirty="0" sz="3600" spc="-20" b="1">
                <a:latin typeface="Times New Roman"/>
                <a:cs typeface="Times New Roman"/>
              </a:rPr>
              <a:t>User</a:t>
            </a:r>
            <a:r>
              <a:rPr dirty="0" sz="3600" spc="-26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Authentication</a:t>
            </a:r>
            <a:r>
              <a:rPr dirty="0" sz="3600" spc="-55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Module</a:t>
            </a:r>
            <a:endParaRPr sz="36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Handles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user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registration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10">
                <a:latin typeface="Times New Roman"/>
                <a:cs typeface="Times New Roman"/>
              </a:rPr>
              <a:t> login.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66750" algn="l"/>
              </a:tabLst>
            </a:pPr>
            <a:r>
              <a:rPr dirty="0" baseline="1633" sz="2550" spc="6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r>
              <a:rPr dirty="0" baseline="1633" sz="255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3600">
                <a:latin typeface="Times New Roman"/>
                <a:cs typeface="Times New Roman"/>
              </a:rPr>
              <a:t>Ensures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using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password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hashing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session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management.</a:t>
            </a:r>
            <a:endParaRPr sz="36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</a:pPr>
            <a:r>
              <a:rPr dirty="0" sz="3600" b="1">
                <a:latin typeface="Times New Roman"/>
                <a:cs typeface="Times New Roman"/>
              </a:rPr>
              <a:t>Module</a:t>
            </a:r>
            <a:r>
              <a:rPr dirty="0" sz="3600" spc="-4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2:</a:t>
            </a:r>
            <a:r>
              <a:rPr dirty="0" sz="3600" spc="-2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Course</a:t>
            </a:r>
            <a:r>
              <a:rPr dirty="0" sz="3600" spc="-2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Management</a:t>
            </a:r>
            <a:r>
              <a:rPr dirty="0" sz="3600" spc="-45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Module</a:t>
            </a:r>
            <a:endParaRPr sz="3600">
              <a:latin typeface="Times New Roman"/>
              <a:cs typeface="Times New Roman"/>
            </a:endParaRPr>
          </a:p>
          <a:p>
            <a:pPr marL="667385" marR="2553335">
              <a:lnSpc>
                <a:spcPct val="100000"/>
              </a:lnSpc>
              <a:spcBef>
                <a:spcPts val="5"/>
              </a:spcBef>
            </a:pPr>
            <a:r>
              <a:rPr dirty="0" sz="3600">
                <a:latin typeface="Times New Roman"/>
                <a:cs typeface="Times New Roman"/>
              </a:rPr>
              <a:t>Allows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instructors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add,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update,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delete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courses. </a:t>
            </a:r>
            <a:r>
              <a:rPr dirty="0" sz="3600">
                <a:latin typeface="Times New Roman"/>
                <a:cs typeface="Times New Roman"/>
              </a:rPr>
              <a:t>Displays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available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courses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students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</a:t>
            </a:r>
            <a:r>
              <a:rPr dirty="0" sz="3600" spc="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the</a:t>
            </a:r>
            <a:r>
              <a:rPr dirty="0" sz="3600" spc="1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marketplace. </a:t>
            </a:r>
            <a:r>
              <a:rPr dirty="0" sz="3600" b="1">
                <a:latin typeface="Times New Roman"/>
                <a:cs typeface="Times New Roman"/>
              </a:rPr>
              <a:t>Module</a:t>
            </a:r>
            <a:r>
              <a:rPr dirty="0" sz="3600" spc="-7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3:</a:t>
            </a:r>
            <a:r>
              <a:rPr dirty="0" sz="3600" spc="-6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Enrollment</a:t>
            </a:r>
            <a:r>
              <a:rPr dirty="0" sz="3600" spc="-9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Module</a:t>
            </a:r>
            <a:endParaRPr sz="36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Enables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students</a:t>
            </a:r>
            <a:r>
              <a:rPr dirty="0" sz="3600" spc="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enroll</a:t>
            </a:r>
            <a:r>
              <a:rPr dirty="0" sz="3600" spc="-1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</a:t>
            </a:r>
            <a:r>
              <a:rPr dirty="0" sz="3600" spc="3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courses.</a:t>
            </a:r>
            <a:endParaRPr sz="3600">
              <a:latin typeface="Times New Roman"/>
              <a:cs typeface="Times New Roman"/>
            </a:endParaRPr>
          </a:p>
          <a:p>
            <a:pPr marL="667385" marR="4591050">
              <a:lnSpc>
                <a:spcPct val="100000"/>
              </a:lnSpc>
              <a:spcBef>
                <a:spcPts val="5"/>
              </a:spcBef>
            </a:pPr>
            <a:r>
              <a:rPr dirty="0" sz="3600">
                <a:latin typeface="Times New Roman"/>
                <a:cs typeface="Times New Roman"/>
              </a:rPr>
              <a:t>Manages</a:t>
            </a:r>
            <a:r>
              <a:rPr dirty="0" sz="3600" spc="-1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enrollment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records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access. </a:t>
            </a:r>
            <a:r>
              <a:rPr dirty="0" sz="3600" b="1">
                <a:latin typeface="Times New Roman"/>
                <a:cs typeface="Times New Roman"/>
              </a:rPr>
              <a:t>Module</a:t>
            </a:r>
            <a:r>
              <a:rPr dirty="0" sz="3600" spc="-5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4:</a:t>
            </a:r>
            <a:r>
              <a:rPr dirty="0" sz="3600" spc="-4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Learning</a:t>
            </a:r>
            <a:r>
              <a:rPr dirty="0" sz="3600" spc="-6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&amp;</a:t>
            </a:r>
            <a:r>
              <a:rPr dirty="0" sz="3600" spc="-6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Progress</a:t>
            </a:r>
            <a:r>
              <a:rPr dirty="0" sz="3600" spc="-4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Module </a:t>
            </a:r>
            <a:r>
              <a:rPr dirty="0" sz="3600">
                <a:latin typeface="Times New Roman"/>
                <a:cs typeface="Times New Roman"/>
              </a:rPr>
              <a:t>Allows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students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enrolled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courses.</a:t>
            </a:r>
            <a:endParaRPr sz="36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Tracks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learning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progress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completion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status.</a:t>
            </a:r>
            <a:endParaRPr sz="3600">
              <a:latin typeface="Times New Roman"/>
              <a:cs typeface="Times New Roman"/>
            </a:endParaRPr>
          </a:p>
          <a:p>
            <a:pPr marL="667385">
              <a:lnSpc>
                <a:spcPts val="4260"/>
              </a:lnSpc>
            </a:pPr>
            <a:r>
              <a:rPr dirty="0" sz="3600" b="1">
                <a:latin typeface="Times New Roman"/>
                <a:cs typeface="Times New Roman"/>
              </a:rPr>
              <a:t>Module</a:t>
            </a:r>
            <a:r>
              <a:rPr dirty="0" sz="3600" spc="-4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5:</a:t>
            </a:r>
            <a:r>
              <a:rPr dirty="0" sz="3600" spc="-3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Dashboard</a:t>
            </a:r>
            <a:r>
              <a:rPr dirty="0" sz="3600" spc="-5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Module&amp;Module</a:t>
            </a:r>
            <a:endParaRPr sz="3600">
              <a:latin typeface="Times New Roman"/>
              <a:cs typeface="Times New Roman"/>
            </a:endParaRPr>
          </a:p>
          <a:p>
            <a:pPr marL="667385" marR="2592070">
              <a:lnSpc>
                <a:spcPts val="4350"/>
              </a:lnSpc>
              <a:spcBef>
                <a:spcPts val="10"/>
              </a:spcBef>
            </a:pPr>
            <a:r>
              <a:rPr dirty="0" sz="3600">
                <a:latin typeface="Calibri"/>
                <a:cs typeface="Calibri"/>
              </a:rPr>
              <a:t>Provides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dashboards</a:t>
            </a:r>
            <a:r>
              <a:rPr dirty="0" sz="3600" spc="-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students,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instructors,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admin. </a:t>
            </a:r>
            <a:r>
              <a:rPr dirty="0" sz="3600">
                <a:latin typeface="Calibri"/>
                <a:cs typeface="Calibri"/>
              </a:rPr>
              <a:t>Manages</a:t>
            </a:r>
            <a:r>
              <a:rPr dirty="0" sz="3600" spc="-1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users,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courses,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1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overall</a:t>
            </a:r>
            <a:r>
              <a:rPr dirty="0" sz="3600" spc="-12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system</a:t>
            </a:r>
            <a:r>
              <a:rPr dirty="0" sz="3600" spc="-12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activities.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dirty="0" spc="-45"/>
              <a:t> </a:t>
            </a:r>
            <a:r>
              <a:rPr dirty="0" spc="-10"/>
              <a:t>DESCRIPTION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20546" y="6921245"/>
            <a:ext cx="2178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2245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2245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2245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49197" y="5430392"/>
            <a:ext cx="165735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49197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6974840" y="2177288"/>
            <a:ext cx="17367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Login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Page</a:t>
            </a:r>
            <a:r>
              <a:rPr dirty="0" sz="2500" spc="-30" b="1">
                <a:latin typeface="Times New Roman"/>
                <a:cs typeface="Times New Roman"/>
              </a:rPr>
              <a:t> </a:t>
            </a:r>
            <a:r>
              <a:rPr dirty="0" sz="2500" spc="-50" b="1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974840" y="2557983"/>
            <a:ext cx="8923655" cy="2312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127635" indent="-4572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registered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enter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email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password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access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the </a:t>
            </a:r>
            <a:r>
              <a:rPr dirty="0" sz="2500" spc="-10">
                <a:latin typeface="Times New Roman"/>
                <a:cs typeface="Times New Roman"/>
              </a:rPr>
              <a:t>system</a:t>
            </a:r>
            <a:endParaRPr sz="25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500" spc="-25">
                <a:latin typeface="Times New Roman"/>
                <a:cs typeface="Times New Roman"/>
              </a:rPr>
              <a:t>Verifies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credentials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secure</a:t>
            </a:r>
            <a:r>
              <a:rPr dirty="0" sz="2500" spc="-9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authentication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(password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hashing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sessions)</a:t>
            </a:r>
            <a:endParaRPr sz="2500">
              <a:latin typeface="Times New Roman"/>
              <a:cs typeface="Times New Roman"/>
            </a:endParaRPr>
          </a:p>
          <a:p>
            <a:pPr marL="469900" marR="870585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Redirects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respective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dashboards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based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on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their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role </a:t>
            </a:r>
            <a:r>
              <a:rPr dirty="0" sz="2500" spc="-10">
                <a:latin typeface="Times New Roman"/>
                <a:cs typeface="Times New Roman"/>
              </a:rPr>
              <a:t>(student/instructor/admin)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670175" y="6858381"/>
            <a:ext cx="8498205" cy="2312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Register</a:t>
            </a:r>
            <a:r>
              <a:rPr dirty="0" sz="2500" spc="-9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Page</a:t>
            </a:r>
            <a:r>
              <a:rPr dirty="0" sz="2500" spc="-80" b="1">
                <a:latin typeface="Times New Roman"/>
                <a:cs typeface="Times New Roman"/>
              </a:rPr>
              <a:t> </a:t>
            </a:r>
            <a:r>
              <a:rPr dirty="0" sz="2500" spc="-50" b="1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500">
                <a:latin typeface="Times New Roman"/>
                <a:cs typeface="Times New Roman"/>
              </a:rPr>
              <a:t>Enables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new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create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account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by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entering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name,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email,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password.</a:t>
            </a:r>
            <a:endParaRPr sz="25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 stores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details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securely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database</a:t>
            </a:r>
            <a:endParaRPr sz="2500">
              <a:latin typeface="Times New Roman"/>
              <a:cs typeface="Times New Roman"/>
            </a:endParaRPr>
          </a:p>
          <a:p>
            <a:pPr marL="299085" marR="29591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500">
                <a:latin typeface="Times New Roman"/>
                <a:cs typeface="Times New Roman"/>
              </a:rPr>
              <a:t>After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successful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registration,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can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login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access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the </a:t>
            </a:r>
            <a:r>
              <a:rPr dirty="0" sz="2500">
                <a:latin typeface="Times New Roman"/>
                <a:cs typeface="Times New Roman"/>
              </a:rPr>
              <a:t>academy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marketplace.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0823" y="1905000"/>
            <a:ext cx="4227576" cy="463296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05359" y="4684776"/>
            <a:ext cx="4227575" cy="4879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52245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67562" y="3426967"/>
            <a:ext cx="730885" cy="4731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506726" y="1570481"/>
            <a:ext cx="9006205" cy="1930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Exam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page:</a:t>
            </a:r>
            <a:endParaRPr sz="2500">
              <a:latin typeface="Times New Roman"/>
              <a:cs typeface="Times New Roman"/>
            </a:endParaRPr>
          </a:p>
          <a:p>
            <a:pPr marL="121920" indent="-118745">
              <a:lnSpc>
                <a:spcPct val="100000"/>
              </a:lnSpc>
              <a:buSzPct val="96000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Displays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available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students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select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enroll</a:t>
            </a:r>
            <a:endParaRPr sz="2500">
              <a:latin typeface="Times New Roman"/>
              <a:cs typeface="Times New Roman"/>
            </a:endParaRPr>
          </a:p>
          <a:p>
            <a:pPr marL="12700" marR="5080" indent="-10160">
              <a:lnSpc>
                <a:spcPct val="100000"/>
              </a:lnSpc>
              <a:buSzPct val="96000"/>
              <a:buChar char="•"/>
              <a:tabLst>
                <a:tab pos="121285" algn="l"/>
              </a:tabLst>
            </a:pP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Provides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content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conducts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assessments/exams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learning evaluation</a:t>
            </a:r>
            <a:endParaRPr sz="2500">
              <a:latin typeface="Times New Roman"/>
              <a:cs typeface="Times New Roman"/>
            </a:endParaRPr>
          </a:p>
          <a:p>
            <a:pPr marL="121920" indent="-118745">
              <a:lnSpc>
                <a:spcPct val="100000"/>
              </a:lnSpc>
              <a:buSzPct val="96000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Records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student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performance and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updates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progress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based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on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results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6432" y="3913632"/>
            <a:ext cx="8089392" cy="60838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76706" y="2759201"/>
            <a:ext cx="709930" cy="4553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49197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801111"/>
            <a:ext cx="7086600" cy="405384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983994" y="1578610"/>
            <a:ext cx="9098915" cy="116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Course</a:t>
            </a:r>
            <a:r>
              <a:rPr dirty="0" sz="2500" spc="-80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Marketplace</a:t>
            </a:r>
            <a:endParaRPr sz="2500">
              <a:latin typeface="Times New Roman"/>
              <a:cs typeface="Times New Roman"/>
            </a:endParaRPr>
          </a:p>
          <a:p>
            <a:pPr marL="121920" indent="-118745">
              <a:lnSpc>
                <a:spcPct val="100000"/>
              </a:lnSpc>
              <a:buSzPct val="96000"/>
              <a:buFont typeface="Arial MT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Displays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available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with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details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like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title,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description,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price</a:t>
            </a:r>
            <a:endParaRPr sz="2500">
              <a:latin typeface="Times New Roman"/>
              <a:cs typeface="Times New Roman"/>
            </a:endParaRPr>
          </a:p>
          <a:p>
            <a:pPr marL="121285" indent="-118745">
              <a:lnSpc>
                <a:spcPct val="100000"/>
              </a:lnSpc>
              <a:buSzPct val="96000"/>
              <a:buFont typeface="Arial MT"/>
              <a:buChar char="•"/>
              <a:tabLst>
                <a:tab pos="121285" algn="l"/>
              </a:tabLst>
            </a:pP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search,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filter,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select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enrollment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200" y="5227320"/>
            <a:ext cx="5876544" cy="4203192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9986518" y="7407020"/>
            <a:ext cx="6844030" cy="1930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My</a:t>
            </a:r>
            <a:r>
              <a:rPr dirty="0" sz="2500" spc="-25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Courses</a:t>
            </a:r>
            <a:endParaRPr sz="2500">
              <a:latin typeface="Times New Roman"/>
              <a:cs typeface="Times New Roman"/>
            </a:endParaRPr>
          </a:p>
          <a:p>
            <a:pPr marL="12700" marR="321310" indent="-10160">
              <a:lnSpc>
                <a:spcPct val="100000"/>
              </a:lnSpc>
              <a:buSzPct val="96000"/>
              <a:buFont typeface="Arial MT"/>
              <a:buChar char="•"/>
              <a:tabLst>
                <a:tab pos="121285" algn="l"/>
              </a:tabLst>
            </a:pP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Displays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all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enrolled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by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student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one </a:t>
            </a:r>
            <a:r>
              <a:rPr dirty="0" sz="2500" spc="-10">
                <a:latin typeface="Times New Roman"/>
                <a:cs typeface="Times New Roman"/>
              </a:rPr>
              <a:t>place</a:t>
            </a:r>
            <a:endParaRPr sz="2500">
              <a:latin typeface="Times New Roman"/>
              <a:cs typeface="Times New Roman"/>
            </a:endParaRPr>
          </a:p>
          <a:p>
            <a:pPr marL="12700" marR="5080" indent="-9525">
              <a:lnSpc>
                <a:spcPct val="100000"/>
              </a:lnSpc>
              <a:buSzPct val="96000"/>
              <a:buFont typeface="Arial MT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access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content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track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their </a:t>
            </a:r>
            <a:r>
              <a:rPr dirty="0" sz="2500">
                <a:latin typeface="Times New Roman"/>
                <a:cs typeface="Times New Roman"/>
              </a:rPr>
              <a:t>learning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progress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73658" y="6921245"/>
            <a:ext cx="715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52245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46149" y="3426967"/>
            <a:ext cx="170815" cy="228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5293" y="609828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49197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623" y="1277111"/>
            <a:ext cx="7046976" cy="427024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9489440" y="2070607"/>
            <a:ext cx="7320915" cy="116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My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Courses</a:t>
            </a:r>
            <a:r>
              <a:rPr dirty="0" sz="2500" spc="-65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(Instructor):</a:t>
            </a:r>
            <a:endParaRPr sz="2500">
              <a:latin typeface="Times New Roman"/>
              <a:cs typeface="Times New Roman"/>
            </a:endParaRPr>
          </a:p>
          <a:p>
            <a:pPr marL="121920" indent="-118745">
              <a:lnSpc>
                <a:spcPct val="100000"/>
              </a:lnSpc>
              <a:buSzPct val="96000"/>
              <a:buFont typeface="Arial MT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Displays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all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created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by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instructor</a:t>
            </a:r>
            <a:endParaRPr sz="2500">
              <a:latin typeface="Times New Roman"/>
              <a:cs typeface="Times New Roman"/>
            </a:endParaRPr>
          </a:p>
          <a:p>
            <a:pPr marL="121285" indent="-118745">
              <a:lnSpc>
                <a:spcPct val="100000"/>
              </a:lnSpc>
              <a:buSzPct val="96000"/>
              <a:buFont typeface="Arial MT"/>
              <a:buChar char="•"/>
              <a:tabLst>
                <a:tab pos="121285" algn="l"/>
              </a:tabLst>
            </a:pP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instructors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edit,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update,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delete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their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courses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2200" y="5580888"/>
            <a:ext cx="7342631" cy="427024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030983" y="5888228"/>
            <a:ext cx="7520305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Times New Roman"/>
                <a:cs typeface="Times New Roman"/>
              </a:rPr>
              <a:t>Admin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Dashboard</a:t>
            </a:r>
            <a:endParaRPr sz="2500">
              <a:latin typeface="Times New Roman"/>
              <a:cs typeface="Times New Roman"/>
            </a:endParaRPr>
          </a:p>
          <a:p>
            <a:pPr marL="121920" indent="-118745">
              <a:lnSpc>
                <a:spcPct val="100000"/>
              </a:lnSpc>
              <a:buSzPct val="96000"/>
              <a:buFont typeface="Arial MT"/>
              <a:buChar char="•"/>
              <a:tabLst>
                <a:tab pos="121920" algn="l"/>
              </a:tabLst>
            </a:pPr>
            <a:r>
              <a:rPr dirty="0" sz="2500">
                <a:latin typeface="Times New Roman"/>
                <a:cs typeface="Times New Roman"/>
              </a:rPr>
              <a:t>Provides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overview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users,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courses,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 </a:t>
            </a:r>
            <a:r>
              <a:rPr dirty="0" sz="2500" spc="-10">
                <a:latin typeface="Times New Roman"/>
                <a:cs typeface="Times New Roman"/>
              </a:rPr>
              <a:t>activities</a:t>
            </a:r>
            <a:endParaRPr sz="2500">
              <a:latin typeface="Times New Roman"/>
              <a:cs typeface="Times New Roman"/>
            </a:endParaRPr>
          </a:p>
          <a:p>
            <a:pPr marL="12700" marR="556260" indent="-10160">
              <a:lnSpc>
                <a:spcPct val="100000"/>
              </a:lnSpc>
              <a:buSzPct val="96000"/>
              <a:buFont typeface="Arial MT"/>
              <a:buChar char="•"/>
              <a:tabLst>
                <a:tab pos="121285" algn="l"/>
              </a:tabLst>
            </a:pP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Allows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admin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users,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courses,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platform operations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8659" y="7552435"/>
            <a:ext cx="246379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225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2245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9677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2245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49197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2245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55293" y="609828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49197" y="6766052"/>
            <a:ext cx="1619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dirty="0" spc="25"/>
              <a:t>A</a:t>
            </a:r>
            <a:r>
              <a:rPr dirty="0"/>
              <a:t>D</a:t>
            </a:r>
            <a:r>
              <a:rPr dirty="0" spc="-610"/>
              <a:t>V</a:t>
            </a:r>
            <a:r>
              <a:rPr dirty="0" spc="25"/>
              <a:t>A</a:t>
            </a:r>
            <a:r>
              <a:rPr dirty="0"/>
              <a:t>N</a:t>
            </a:r>
            <a:r>
              <a:rPr dirty="0" spc="-345"/>
              <a:t>T</a:t>
            </a:r>
            <a:r>
              <a:rPr dirty="0" spc="25"/>
              <a:t>AG</a:t>
            </a:r>
            <a:r>
              <a:rPr dirty="0" spc="10"/>
              <a:t>E</a:t>
            </a:r>
            <a:r>
              <a:rPr dirty="0" spc="25"/>
              <a:t>S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-135"/>
              <a:t> </a:t>
            </a:r>
            <a:r>
              <a:rPr dirty="0" spc="-60"/>
              <a:t>LIMITATIONS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517394" y="1732610"/>
            <a:ext cx="9024620" cy="7160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latin typeface="Times New Roman"/>
                <a:cs typeface="Times New Roman"/>
              </a:rPr>
              <a:t>Advantages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spcBef>
                <a:spcPts val="5"/>
              </a:spcBef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Provides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centralized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online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learning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platform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Secure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authentication</a:t>
            </a:r>
            <a:r>
              <a:rPr dirty="0" sz="3600" spc="-10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ensures</a:t>
            </a:r>
            <a:r>
              <a:rPr dirty="0" sz="3600" spc="-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safety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 spc="-20">
                <a:latin typeface="Times New Roman"/>
                <a:cs typeface="Times New Roman"/>
              </a:rPr>
              <a:t>Role-</a:t>
            </a:r>
            <a:r>
              <a:rPr dirty="0" sz="3600">
                <a:latin typeface="Times New Roman"/>
                <a:cs typeface="Times New Roman"/>
              </a:rPr>
              <a:t>based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access</a:t>
            </a:r>
            <a:r>
              <a:rPr dirty="0" sz="3600" spc="-114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improves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system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control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Easy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course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management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instructors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spcBef>
                <a:spcPts val="5"/>
              </a:spcBef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 spc="-30">
                <a:latin typeface="Times New Roman"/>
                <a:cs typeface="Times New Roman"/>
              </a:rPr>
              <a:t>User-</a:t>
            </a:r>
            <a:r>
              <a:rPr dirty="0" sz="3600">
                <a:latin typeface="Times New Roman"/>
                <a:cs typeface="Times New Roman"/>
              </a:rPr>
              <a:t>friendly</a:t>
            </a:r>
            <a:r>
              <a:rPr dirty="0" sz="3600" spc="-9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responsive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interface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Scalable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modular</a:t>
            </a:r>
            <a:r>
              <a:rPr dirty="0" sz="3600" spc="-2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architecture</a:t>
            </a:r>
            <a:endParaRPr sz="3600">
              <a:latin typeface="Times New Roman"/>
              <a:cs typeface="Times New Roman"/>
            </a:endParaRPr>
          </a:p>
          <a:p>
            <a:pPr marL="128270">
              <a:lnSpc>
                <a:spcPct val="100000"/>
              </a:lnSpc>
            </a:pPr>
            <a:r>
              <a:rPr dirty="0" sz="3600" spc="-10" b="1">
                <a:latin typeface="Times New Roman"/>
                <a:cs typeface="Times New Roman"/>
              </a:rPr>
              <a:t>Disadvantages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Requires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internet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connection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10">
                <a:latin typeface="Times New Roman"/>
                <a:cs typeface="Times New Roman"/>
              </a:rPr>
              <a:t> access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spcBef>
                <a:spcPts val="5"/>
              </a:spcBef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Basic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security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(not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fully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industry-</a:t>
            </a:r>
            <a:r>
              <a:rPr dirty="0" sz="3600" spc="-10">
                <a:latin typeface="Times New Roman"/>
                <a:cs typeface="Times New Roman"/>
              </a:rPr>
              <a:t>level)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Depends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on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server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performance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(XAMPP/local)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Limited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features</a:t>
            </a:r>
            <a:r>
              <a:rPr dirty="0" sz="3600" spc="-12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compared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large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platforms</a:t>
            </a:r>
            <a:endParaRPr sz="3600">
              <a:latin typeface="Times New Roman"/>
              <a:cs typeface="Times New Roman"/>
            </a:endParaRPr>
          </a:p>
          <a:p>
            <a:pPr marL="173990" indent="-168275">
              <a:lnSpc>
                <a:spcPct val="100000"/>
              </a:lnSpc>
              <a:buSzPct val="97222"/>
              <a:buFont typeface="Arial MT"/>
              <a:buChar char="•"/>
              <a:tabLst>
                <a:tab pos="173990" algn="l"/>
              </a:tabLst>
            </a:pPr>
            <a:r>
              <a:rPr dirty="0" sz="3600">
                <a:latin typeface="Times New Roman"/>
                <a:cs typeface="Times New Roman"/>
              </a:rPr>
              <a:t>Maintenance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required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updates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4020820"/>
            <a:ext cx="7401559" cy="172656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150" spc="195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11150" spc="-10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1150" spc="570" i="1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2026-05-06T00:35:33Z</dcterms:created>
  <dcterms:modified xsi:type="dcterms:W3CDTF">2026-05-06T00:35:33Z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2026-05-06T00:00:00Z</vt:filetime>
  </property>
  <property fmtid="{D5CDD505-2E9C-101B-9397-08002B2CF9AE}" pid="5" name="Producer">
    <vt:lpwstr>www.ilovepdf.com</vt:lpwstr>
  </property>
</Properties>
</file>